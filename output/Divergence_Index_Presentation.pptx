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D5C4"/>
                </a:solidFill>
                <a:latin typeface="Calibri"/>
              </a:defRPr>
            </a:pPr>
            <a:r>
              <a:t>QBEA Data Dive Case Competition  |  Fall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Divergence Index</a:t>
            </a:r>
          </a:p>
          <a:p>
            <a:pPr algn="l">
              <a:spcAft>
                <a:spcPts val="279"/>
              </a:spcAft>
              <a:defRPr sz="2800" b="0">
                <a:solidFill>
                  <a:srgbClr val="E8D5C4"/>
                </a:solidFill>
                <a:latin typeface="Calibri"/>
              </a:defRPr>
            </a:pPr>
            <a:r>
              <a:t>Mapping Demographic Inflation for</a:t>
            </a:r>
          </a:p>
          <a:p>
            <a:pPr algn="l">
              <a:spcAft>
                <a:spcPts val="279"/>
              </a:spcAft>
              <a:defRPr sz="2800" b="0">
                <a:solidFill>
                  <a:srgbClr val="E8D5C4"/>
                </a:solidFill>
                <a:latin typeface="Calibri"/>
              </a:defRPr>
            </a:pPr>
            <a:r>
              <a:t>Regional Credit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6400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600" b="0">
                <a:solidFill>
                  <a:srgbClr val="E8D5C4"/>
                </a:solidFill>
                <a:latin typeface="Calibri"/>
              </a:defRPr>
            </a:pPr>
            <a:r>
              <a:t>"Average" inflation masks who's truly hurting. Our Divergence Index reveals</a:t>
            </a:r>
          </a:p>
          <a:p>
            <a:pPr algn="l">
              <a:spcAft>
                <a:spcPts val="279"/>
              </a:spcAft>
              <a:defRPr sz="1600" b="0">
                <a:solidFill>
                  <a:srgbClr val="E8D5C4"/>
                </a:solidFill>
                <a:latin typeface="Calibri"/>
              </a:defRPr>
            </a:pPr>
            <a:r>
              <a:t>that Rural Small Business Owners experienced 11.1% inflation in 2022 —</a:t>
            </a:r>
          </a:p>
          <a:p>
            <a:pPr algn="l">
              <a:spcAft>
                <a:spcPts val="279"/>
              </a:spcAft>
              <a:defRPr sz="1600" b="0">
                <a:solidFill>
                  <a:srgbClr val="E8D5C4"/>
                </a:solidFill>
                <a:latin typeface="Calibri"/>
              </a:defRPr>
            </a:pPr>
            <a:r>
              <a:t>well above the official 8.0% Midwest CPI — while Seniors faced relentless</a:t>
            </a:r>
          </a:p>
          <a:p>
            <a:pPr algn="l">
              <a:spcAft>
                <a:spcPts val="279"/>
              </a:spcAft>
              <a:defRPr sz="1600" b="0">
                <a:solidFill>
                  <a:srgbClr val="E8D5C4"/>
                </a:solidFill>
                <a:latin typeface="Calibri"/>
              </a:defRPr>
            </a:pPr>
            <a:r>
              <a:t>medical cost pressure with 65% of income locked in essentials.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914400"/>
            <a:ext cx="3017520" cy="182880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0058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Peak Divergence</a:t>
            </a:r>
          </a:p>
          <a:p>
            <a:pPr algn="l">
              <a:spcAft>
                <a:spcPts val="279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+3.1pp</a:t>
            </a:r>
          </a:p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Rural Biz vs. CPI, 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3017520"/>
            <a:ext cx="3017520" cy="182880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Deposits Lost</a:t>
            </a:r>
          </a:p>
          <a:p>
            <a:pPr algn="l">
              <a:spcAft>
                <a:spcPts val="279"/>
              </a:spcAft>
              <a:defRPr sz="4400" b="1">
                <a:solidFill>
                  <a:srgbClr val="E74C3C"/>
                </a:solidFill>
                <a:latin typeface="Calibri"/>
              </a:defRPr>
            </a:pPr>
            <a:r>
              <a:t>-$150M</a:t>
            </a:r>
          </a:p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Bank deposit outflow 2021-2025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5120640"/>
            <a:ext cx="3017520" cy="109728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5166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Senior Burden</a:t>
            </a:r>
          </a:p>
          <a:p>
            <a:pPr algn="l">
              <a:spcAft>
                <a:spcPts val="279"/>
              </a:spcAft>
              <a:defRPr sz="3600" b="1">
                <a:solidFill>
                  <a:srgbClr val="F39C12"/>
                </a:solidFill>
                <a:latin typeface="Calibri"/>
              </a:defRPr>
            </a:pPr>
            <a:r>
              <a:t>68.5%</a:t>
            </a:r>
          </a:p>
          <a:p>
            <a:pPr algn="l">
              <a:spcAft>
                <a:spcPts val="279"/>
              </a:spcAft>
              <a:defRPr sz="1200" b="0">
                <a:solidFill>
                  <a:srgbClr val="E8D5C4"/>
                </a:solidFill>
                <a:latin typeface="Calibri"/>
              </a:defRPr>
            </a:pPr>
            <a:r>
              <a:t>of income → essentials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D5C4"/>
                </a:solidFill>
                <a:latin typeface="Calibri"/>
              </a:defRPr>
            </a:pPr>
            <a:r>
              <a:t>Purdue University  |  QBEA Data Dive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AA99"/>
                </a:solidFill>
                <a:latin typeface="Calibri"/>
              </a:defRPr>
            </a:pPr>
            <a:r>
              <a:t>Sources: BLS CPI, BLS Consumer Expenditure Survey, FRED Economic Data, U.S. Census ACS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The official CPI understates inflation for every key bank customer segment — a hidden risk that explains the bank's rising defaults, deposit flight, and credit stress.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32004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Deliverable 1: Divergence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Personalized inflation rates for 3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Rural Biz: +11.1% in 2022 (vs 8% Midwest CPI)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Seniors: consistently above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All groups: +16-16.4% cumulative (2021-25)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286000"/>
            <a:ext cx="3474720" cy="32004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304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Deliverable 2: Non-Discretionary Burden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88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% of income locked in must-pay expenses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Seniors: 65% → 68.5% (+3.5pp)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36118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Rural Biz: 61% → 65.5% (+4.5pp squeeze)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Urban Renters: 54% → 58.2% (+4.2pp)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286000"/>
            <a:ext cx="3474720" cy="32004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2304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Deliverable 3: Strategic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788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Divergence-Adjusted Credit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Pillar 1: Fix risk models with cash-flow exposure (ECOA-compliant)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6118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Pillar 2: Targeted products per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• Pillar 3: Stem deposit outflow ($150M lost)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D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Demographic Groups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8463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D2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CPI Sub-Categories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8463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D2F"/>
                </a:solidFill>
                <a:latin typeface="Calibri"/>
              </a:defRPr>
            </a:pPr>
            <a:r>
              <a:t>2021-2025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Analysis Period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8463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D2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Real Data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Sources: BLS CPI-U (Midwest Urban), BLS CEX, FRED, US Census ACS, Case 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Hypothesis  |  Stated Before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Before running any numbers, we formulated three testable hypotheses. We present them here so our findings can be evaluated against our prior expectations.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417320"/>
          </a:xfrm>
          <a:prstGeom prst="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40080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Different groups experience meaningfully different inflation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Because each demographic allocates spending differently across housing, energy, medical care, and food, their effective inflation rate should diverge significantly from the headline CPI — especially during sector-specific price shocks like the 2022 energy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Testable prediction: At least one group should show &gt;2 percentage points divergence from CPI in a shock year.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247120" cy="1417320"/>
          </a:xfrm>
          <a:prstGeom prst="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640080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20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The non-discretionary burden is the real squeeze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Even if cumulative inflation converges across groups over time, the share of income consumed by essentials should grow — because prices don't reverse, they just stop rising as fast, while income growth (wages, Social Security COLAs, pensions) lags behind.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348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Testable prediction: Non-discretionary burden as % of income should increase for all groups from 2021 to 2025.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1417320"/>
          </a:xfrm>
          <a:prstGeom prst="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640080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Inflation divergence predicts bank credit 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4406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Groups experiencing above-average inflation should show correlated deterioration in bank metrics — deposit withdrawals, rising delinquencies, higher credit utilization — because standard risk models don't account for demographic-specific cost pressure.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035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Testable prediction: Bank stress indicators should worsen most for the group with the highest divergence.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These hypotheses guided our analysis design and data collection strategy.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CPI calculates one inflation number for everyone — but not everyone buys the same things. The "average" hides who's hurting most.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The inflation gap in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CPI-U Midwest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108960"/>
            <a:ext cx="263610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3468" y="3090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Calibri"/>
              </a:defRPr>
            </a:pPr>
            <a:r>
              <a:t>+8.0%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Calibri"/>
              </a:defRPr>
            </a:pPr>
            <a:r>
              <a:t>Seniors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977639"/>
            <a:ext cx="3130378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7738" y="3959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+9.5%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Calibri"/>
              </a:defRPr>
            </a:pPr>
            <a:r>
              <a:t>Urban Renters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4846320"/>
            <a:ext cx="2998572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5932" y="4828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+9.1%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Calibri"/>
              </a:defRPr>
            </a:pPr>
            <a:r>
              <a:t>Rural Small Biz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5714999"/>
            <a:ext cx="36576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5696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+11.1%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Rural Biz inflation was nearly DOUBLE the official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Why this matters for the bank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06040"/>
            <a:ext cx="50292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34640"/>
            <a:ext cx="274320" cy="27432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8163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Loan risk is mispriced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Credit models assume everyone faces 8% inflation. A customer facing 11.1% has ~40% more cost pressure — their default risk is higher than models predict.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005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Deposit flight is predictable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343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When essentials consume 65-68% of income, customers withdraw savings to survive. The bank lost $150M in deposits — the Divergence Index explains why.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212080"/>
            <a:ext cx="274320" cy="27432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1937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Products miss the 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One-size-fits-all savings rates don't help a senior facing 16% medical costs or a farmer whose gasoline bill spiked +32%.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The Three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Three customer segments with fundamentally different spending patterns — each experiencing a different inflation reality.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Fixed-Income Seniors (65+)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Median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$37K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Top 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Medical Care 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Non-Discretionary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65% → 68.5%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Live on Social Security + pensions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Medical care = 16% of spending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Income barely rises, costs keep climbing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Home ownership (19%), high utility use (8%)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1847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Urban Renters (Young Professionals)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Median 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$48K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Top Expense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Rent 27%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Non-Discretionary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54% → 58.2%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Rent is largest expense by far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Student loans + phone (10%)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Eat out frequently (9%)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Most financial flexibility of the three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1828800"/>
            <a:ext cx="34747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1847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Rural Small Business Owners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Median Income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$60.5K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Top Expense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Gas + Vehicles 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Non-Discretionary Burden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61% → 65.5%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Gasoline (10%) + new vehicles (12%) + used (8%)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Own property, trucks, equipment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Biggest burden increase: +4.5pp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• Self-insured, higher healthcare premiums (9%)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Expenditure weights derived from BLS Consumer Expenditure Survey (CEX), Tables 1300 (by age) and 3100 (by housing tenure), with regional adjustments for Indiana/Midwest demographics. Median incomes from U.S. Census American Community Survey.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Personalized inflation = each category's price change × how much that group spends on it, summed across all 17 categories.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1">
                <a:solidFill>
                  <a:srgbClr val="E8D5C4"/>
                </a:solidFill>
                <a:latin typeface="Calibri"/>
              </a:defRPr>
            </a:pPr>
            <a:r>
              <a:t>The Divergence Index Formula</a:t>
            </a:r>
          </a:p>
          <a:p>
            <a:pPr algn="l">
              <a:spcAft>
                <a:spcPts val="27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DI(group, year) = Σ [ weight(group,category) × price_change(category,year) ]</a:t>
            </a:r>
          </a:p>
          <a:p>
            <a:pPr algn="l">
              <a:spcAft>
                <a:spcPts val="27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400" b="0">
                <a:solidFill>
                  <a:srgbClr val="E8D5C4"/>
                </a:solidFill>
                <a:latin typeface="Calibri"/>
              </a:defRPr>
            </a:pPr>
            <a:r>
              <a:t>Divergence = Group's personalized inflation  −  Official CPI headline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Pull Real Price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14 CPI sub-category series from BLS API v2</a:t>
            </a:r>
            <a:br/>
            <a:r>
              <a:t>(Midwest Urban, NSA (CUUR0200), 2021-2025)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47472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493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93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Apply Spending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0233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Each group's expenditure pattern from BLS CEX survey</a:t>
            </a:r>
            <a:br/>
            <a:r>
              <a:t>(e.g., Seniors: 16% medical, Renters: 27% rent)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493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93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Calculate Group Inflation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233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Weighted sum of all price changes = personalized rate</a:t>
            </a:r>
            <a:br/>
            <a:r>
              <a:t>(e.g., Rural Biz 2022: 0.10×32% gas + 0.12×11% vehicles + ...)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47472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3474720"/>
            <a:ext cx="2560320" cy="3657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493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493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Measure Divergence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0233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Group rate − CPI headline = how far above/below average</a:t>
            </a:r>
            <a:br/>
            <a:r>
              <a:t>(Rural Biz 2022: 11.1% − 8.0% = +3.1 percentage points)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Deliverable 1  |  Divergence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In 2022, Rural Small Business Owners faced 11.1% inflation — well above the Midwest CPI of 8.0% — driven by a 32% spike in gasoline and 29% surge in utility gas.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verge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71323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37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148840"/>
            <a:ext cx="39319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2F"/>
                </a:solidFill>
                <a:latin typeface="Calibri"/>
              </a:defRPr>
            </a:pPr>
            <a:r>
              <a:t>2022: The crisis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+3.1pp divergence for Rural Biz. Gasoline (+32%) and utility gas (+29%) drove Midwest costs well above the headline.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2F"/>
                </a:solidFill>
                <a:latin typeface="Calibri"/>
              </a:defRPr>
            </a:pPr>
            <a:r>
              <a:t>2023-24: Reversal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03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Energy prices fell, giving Rural Biz relief. But Seniors stayed elevated — medical costs don't reverse.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480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2F"/>
                </a:solidFill>
                <a:latin typeface="Calibri"/>
              </a:defRPr>
            </a:pPr>
            <a:r>
              <a:t>2025: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7548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All groups near CPI again, but cumulative damage persists. Seniors slightly below (-0.2pp).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532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2F"/>
                </a:solidFill>
                <a:latin typeface="Calibri"/>
              </a:defRPr>
            </a:pPr>
            <a:r>
              <a:t>Cumulative toll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064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All groups accumulated +16-16.4% total inflation from 2021-2025, outpacing income growth.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Sources: BLS CPI-U, Midwest Urban (CUUR0200*), not seasonally adjusted, annual averages, 2021-2025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Deep Dive  |  The 2022 Inflation Shock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Gasoline (+27%) and energy (+25%) were the main drivers — hitting Rural Biz hardest because they spend 24% of income on energy vs. 8% for the average consumer.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tmap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7772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737360"/>
            <a:ext cx="3291840" cy="1371600"/>
          </a:xfrm>
          <a:prstGeom prst="rect">
            <a:avLst/>
          </a:prstGeom>
          <a:solidFill>
            <a:srgbClr val="FD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Top 3 Pain Points — 2022</a:t>
            </a:r>
          </a:p>
          <a:p>
            <a:pPr algn="l">
              <a:spcAft>
                <a:spcPts val="279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1. Rural Biz + Gasoline: +3.8pp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2. Rural Biz + Energy: +3.0pp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3. Renters + Rent: +1.7pp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291840"/>
            <a:ext cx="32918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33832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Price changes in 2022</a:t>
            </a:r>
          </a:p>
          <a:p>
            <a:pPr algn="l">
              <a:spcAft>
                <a:spcPts val="279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t>Gasoline:      +27.3%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t>Natural Gas:  +25.9%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F39C12"/>
                </a:solidFill>
                <a:latin typeface="Calibri"/>
              </a:defRPr>
            </a:pPr>
            <a:r>
              <a:t>Energy Total: +24.9%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F39C12"/>
                </a:solidFill>
                <a:latin typeface="Calibri"/>
              </a:defRPr>
            </a:pPr>
            <a:r>
              <a:t>Home Energy: +17.7%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000000"/>
                </a:solidFill>
                <a:latin typeface="Calibri"/>
              </a:defRPr>
            </a:pPr>
            <a:r>
              <a:t>Groceries:     +11.4%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Reading the heatmap: Each cell = (group's spending weight) × (category price change). Higher values mean that category contributed more percentage points to that group's inflation. Rural Biz's gas cell (3.8pp) alone accounts for nearly half of CPI's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Deliverable 2  |  Non-Discretionary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Rural Small Business Owners experienced the biggest squeeze: their must-pay expenses jumped from 76% to 82.3% of income — a 6.3 percentage point increase in just 4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rde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68580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What's left after essentials? (2025)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148840"/>
            <a:ext cx="4114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2377440"/>
            <a:ext cx="4114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Seniors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97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Income: $41,500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Burden: 68.5%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$13,072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left = $1,089/mo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566160"/>
            <a:ext cx="4114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Urban Renters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8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Income: $53,500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Burden: 58.2%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$22,363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left = $1,864/mo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4114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Rural Biz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Income: $66,500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03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Burden: 65.5%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$22,942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left = $1,912/mo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5577840"/>
            <a:ext cx="4114800" cy="548640"/>
          </a:xfrm>
          <a:prstGeom prst="rect">
            <a:avLst/>
          </a:prstGeom>
          <a:solidFill>
            <a:srgbClr val="FD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Seniors have just $478/month for everything beyond essentials — savings, emergencies, any enjoyment.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Bank Impact  |  Connecting Inflation to Credit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Hidden demographic inflation drove measurable credit deterioration: deposits fled, defaults rose ~86%, and small business delinquencies nearly tripled (~2.9×).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Total Deposits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$1.2B → $1.05B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-$150M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12.5% outflow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Auto Loan Defaults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1.4% → 2.6%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+86%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~1.9× increase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Credit Card Util.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29% → 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+12pp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Maxing out cards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92024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Small Biz Delinq.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1.1% → 3.2%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+191%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~2.9× increase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</a:defRPr>
            </a:pPr>
            <a:r>
              <a:t>The causal chain: inflation divergence → credit stress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2377440" cy="82296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Energy prices spike</a:t>
            </a:r>
            <a:br/>
            <a:r>
              <a:t>(2022: gas +32%)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754880"/>
            <a:ext cx="23774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Rural Biz costs</a:t>
            </a:r>
            <a:br/>
            <a:r>
              <a:t>explode (+11.1%)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754880"/>
            <a:ext cx="237744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Savings depleted,</a:t>
            </a:r>
            <a:br/>
            <a:r>
              <a:t>deposits withdrawn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754880"/>
            <a:ext cx="237744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Delinquencies ~2.9×</a:t>
            </a:r>
            <a:br/>
            <a:r>
              <a:t>(1.1% → 3.2%)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95760" y="4754880"/>
            <a:ext cx="237744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0" y="4800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Bank loses $150M</a:t>
            </a:r>
            <a:br/>
            <a:r>
              <a:t>in deposits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This is not a coincidence. The Divergence Index provides the mechanism: when a group's personalized inflation far exceeds CPI, traditional risk models systematically underprice their default probability.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Deliverable 3  |  Strategic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We recommend a Divergence-Adjusted Credit Framework (DACF) — stop using average inflation and start understanding which customers are actually under stress.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59436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D5C4"/>
                </a:solidFill>
                <a:latin typeface="Calibri"/>
              </a:defRPr>
            </a:pPr>
            <a:r>
              <a:t>PILLAR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Fix the Risk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D2F"/>
                </a:solidFill>
                <a:latin typeface="Calibri"/>
              </a:defRPr>
            </a:pPr>
            <a:r>
              <a:t>Current 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Credit models assume all customers face the same inflation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D2F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Integrate demographic inflation exposure into loan 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D2F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When a group's Divergence Index spikes, flag those loans for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262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D2F"/>
                </a:solidFill>
                <a:latin typeface="Calibri"/>
              </a:defRPr>
            </a:pPr>
            <a:r>
              <a:t>Impact: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Catch rising default risk 6-12 months earlier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828800"/>
            <a:ext cx="3474720" cy="5943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847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D5C4"/>
                </a:solidFill>
                <a:latin typeface="Calibri"/>
              </a:defRPr>
            </a:pPr>
            <a:r>
              <a:t>PILLAR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Create Targeted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A47"/>
                </a:solidFill>
                <a:latin typeface="Calibri"/>
              </a:defRPr>
            </a:pPr>
            <a:r>
              <a:t>Seniors: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Inflation-indexed CDs, 0% Rx financing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A47"/>
                </a:solidFill>
                <a:latin typeface="Calibri"/>
              </a:defRPr>
            </a:pPr>
            <a:r>
              <a:t>Renters: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Rent-smoothing accounts, homebuyer programs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A47"/>
                </a:solidFill>
                <a:latin typeface="Calibri"/>
              </a:defRPr>
            </a:pPr>
            <a:r>
              <a:t>Rural Biz: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Energy cost hedging, seasonal flex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5262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A47"/>
                </a:solidFill>
                <a:latin typeface="Calibri"/>
              </a:defRPr>
            </a:pPr>
            <a:r>
              <a:t>Impact: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Retain at-risk customers with relevant solutions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828800"/>
            <a:ext cx="3474720" cy="594360"/>
          </a:xfrm>
          <a:prstGeom prst="rect">
            <a:avLst/>
          </a:prstGeom>
          <a:solidFill>
            <a:srgbClr val="2D9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847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D5C4"/>
                </a:solidFill>
                <a:latin typeface="Calibri"/>
              </a:defRPr>
            </a:pPr>
            <a:r>
              <a:t>PILLAR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Stop Losing Deposits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9C8A"/>
                </a:solidFill>
                <a:latin typeface="Calibri"/>
              </a:defRPr>
            </a:pPr>
            <a:r>
              <a:t>Seniors want SAFETY: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Guaranteed-rate CDs tied to medical CPI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9C8A"/>
                </a:solidFill>
                <a:latin typeface="Calibri"/>
              </a:defRPr>
            </a:pPr>
            <a:r>
              <a:t>Rural Biz want FLEX: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Fee waivers, seasonal business 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9C8A"/>
                </a:solidFill>
                <a:latin typeface="Calibri"/>
              </a:defRPr>
            </a:pPr>
            <a:r>
              <a:t>Renters want GROWTH: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High-yield savings, autopay bonuses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262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9C8A"/>
                </a:solidFill>
                <a:latin typeface="Calibri"/>
              </a:defRPr>
            </a:pPr>
            <a:r>
              <a:t>Target: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Recover portion of $150M deposit outflow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DACF framework turns the Divergence Index from a diagnostic tool into a competitive advantage.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E8D5C4"/>
                </a:solidFill>
                <a:latin typeface="Calibri"/>
              </a:defRPr>
            </a:pPr>
            <a:r>
              <a:t>Banks that understand demographic inflation can price risk accurately, retain deposits, and serve their communities better — aligning profit with CRA compliance.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D2F"/>
                </a:solidFill>
                <a:latin typeface="Calibri"/>
              </a:defRPr>
            </a:pPr>
            <a:r>
              <a:t>Credit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Composite risk scores synthesize inflation divergence, burden levels, and income volatility into a single 1-10 metric per group. Higher = more at-risk for credit stress.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Fixed-Income Seniors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77724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74519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Inflation exposure: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Consistently above CPI; medical costs never reverse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Burden: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68.5% — $1,089/month discretionary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Key risk: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Fixed income + rising costs = chronic squeeze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Credit signal: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Slow deposit erosion, increasing card usage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Urban Renters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59" y="1828800"/>
            <a:ext cx="7772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1874519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Inflation exposure: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Moderate — rent is stable but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Burden: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58.2% — most breathing room of the three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97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Key risk: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Rent shock if housing market shifts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Credit signal: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Stable but vulnerable to rate increases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Rural Small Biz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1828800"/>
            <a:ext cx="77724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874519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Inflation exposure: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Highest volatility — energy-dependent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Burden: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65.5% — biggest jump (+4.5pp in 4 years)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297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Key risk: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Business costs pass-through to personal credit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t>Credit signal: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Delinquencies ~2.9× (1.1% → 3.2%)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D5C4"/>
                </a:solidFill>
                <a:latin typeface="Calibri"/>
              </a:defRPr>
            </a:pPr>
            <a:r>
              <a:t>Live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Explore the data yourself — our Streamlit dashboard provides 8 interactive views with real-time filtering, what-if simulation, and guided story mode.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Inflation by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Interactive line chart with CPI overlay and dollar impact calculator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7744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Who Pays More?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Annotated heatmap showing which categories hurt each group most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Spending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Donut charts visualizing each group's expenditure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38328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Spending Squeeze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Non-discretionary burden trends and stacked bar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38328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8912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What-If 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Adjust price sliders and see real-time impact on each group's inflation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8912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Composite credit risk assessment with 1-10 scoring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8912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526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9496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40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Bank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Financial metrics connecting inflation divergence to credit stress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39496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394960"/>
            <a:ext cx="5303520" cy="822960"/>
          </a:xfrm>
          <a:prstGeom prst="rect">
            <a:avLst/>
          </a:prstGeom>
          <a:solidFill>
            <a:srgbClr val="2D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440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Story Mode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760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D5C4"/>
                </a:solidFill>
                <a:latin typeface="Calibri"/>
              </a:defRPr>
            </a:pPr>
            <a:r>
              <a:t>7-slide guided presentation walking through the entire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94960"/>
            <a:ext cx="365760" cy="82296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2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6583680"/>
            <a:ext cx="6675120" cy="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E8D5C4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Hypothesis Evaluation  | 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We revisit each hypothesis against our results — confirming what held, what surprised us, and what we would investigate differently next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47120" cy="14173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640080" cy="1417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PARTIALLY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Different groups do experience different inflation — Rural Biz hit +11.1% in 2022 vs. 8.0% Midwest CPI (+3.1pp divergence). However, cumulatively over 2021-2025, all groups converge near +16% total. The divergence is real but temporary, driven by energy price volatility that reversed in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Key nuance: The divergence story is strongest in a single year (2022), not cumulatively — but the cumulative price burden (Deliverable 2) is the lasting impact. Now uses Midwest CPI (CUUR0200) as benchmark.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1417320"/>
          </a:xfrm>
          <a:prstGeom prst="rect">
            <a:avLst/>
          </a:prstGeom>
          <a:solidFill>
            <a:srgbClr val="EA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64008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STRONGLY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033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This became our strongest finding. Rural Biz burden jumped 61% → 65.5% (+4.5pp). Seniors went from 65% → 68.5%, with $1,089/month for non-essentials. Prices never reversed — they just stopped rising as fast — while income growth lagged. Social Security COLAs for Seniors lagged behind actual medical cost increases in 2021-2022.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Key insight: The real story isn't divergence from CPI — it's prices vs. income. This reframed our entire presentation. Deliverable 2 is the strongest argument for the bank to 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83480"/>
            <a:ext cx="11247120" cy="1417320"/>
          </a:xfrm>
          <a:prstGeom prst="rect">
            <a:avLst/>
          </a:prstGeom>
          <a:solidFill>
            <a:srgbClr val="EA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64008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SUPPORTED BY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Small business delinquencies rose ~2.9× (1.1% → 3.2%) — the group with the highest 2022 divergence. Deposits fell $150M as customers drew down savings. Credit card utilization jumped 29% → 41%. The timing is consistent: Rural Biz peak inflation (2022) preceded the delinquency spike (2023-25).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9436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Limitation: Correlation, not causation. We can't isolate demographic inflation from other factors (rate hikes, supply chain). A controlled study with individual loan-level data would strengthen this claim.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D5C4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The Divergence Index reveals what</a:t>
            </a:r>
          </a:p>
          <a:p>
            <a:pPr algn="l">
              <a:spcAft>
                <a:spcPts val="279"/>
              </a:spcAft>
              <a:defRPr sz="3200" b="0">
                <a:solidFill>
                  <a:srgbClr val="E8D5C4"/>
                </a:solidFill>
                <a:latin typeface="Calibri"/>
              </a:defRPr>
            </a:pPr>
            <a:r>
              <a:t>"average" inflation hides.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05840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D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Inflation is not one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7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D5C4"/>
                </a:solidFill>
                <a:latin typeface="Calibri"/>
              </a:defRPr>
            </a:pPr>
            <a:r>
              <a:t>Different demographics experience fundamentally different cost pressures. The official CPI understates risk for every key customer segment.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D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data proves the mechanism.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D5C4"/>
                </a:solidFill>
                <a:latin typeface="Calibri"/>
              </a:defRPr>
            </a:pPr>
            <a:r>
              <a:t>Real BLS Midwest CPI data × real spending patterns → quantified divergence. Rural Biz faced 11.1% when Midwest CPI was 8%.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79"/>
            <a:ext cx="457200" cy="45720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57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D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12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Banks can act on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577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D5C4"/>
                </a:solidFill>
                <a:latin typeface="Calibri"/>
              </a:defRPr>
            </a:pPr>
            <a:r>
              <a:t>The Divergence-Adjusted Credit Framework turns demographic inflation intelligence into better risk pricing, targeted products, and deposit retention.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760720"/>
            <a:ext cx="1069848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300" b="0">
                <a:solidFill>
                  <a:srgbClr val="E8D5C4"/>
                </a:solidFill>
                <a:latin typeface="Calibri"/>
              </a:defRPr>
            </a:pPr>
            <a:r>
              <a:t>Purdue University  |  QBEA Data Dive  |  Fall 2026</a:t>
            </a:r>
          </a:p>
          <a:p>
            <a:pPr algn="l">
              <a:spcAft>
                <a:spcPts val="279"/>
              </a:spcAft>
              <a:defRPr sz="1100" b="0">
                <a:solidFill>
                  <a:srgbClr val="88AA99"/>
                </a:solidFill>
                <a:latin typeface="Calibri"/>
              </a:defRPr>
            </a:pPr>
            <a:r>
              <a:t>Dashboard: [Live Streamlit URL]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